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518B80-A0DA-4630-898B-B6A7BB6E1A1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E32295F-8979-43BC-9B34-4740C087D429}">
      <dgm:prSet/>
      <dgm:spPr/>
      <dgm:t>
        <a:bodyPr/>
        <a:lstStyle/>
        <a:p>
          <a:r>
            <a:rPr lang="en-US"/>
            <a:t>Progress will be evaluated by the visual accuracy of the web interface compared to the brand's aesthetic standards. Key indicators include:</a:t>
          </a:r>
        </a:p>
      </dgm:t>
    </dgm:pt>
    <dgm:pt modelId="{16F85649-7FCA-448D-811D-1A22D440A7BA}" type="parTrans" cxnId="{1DED3BB5-1069-4959-B673-55493EB1A111}">
      <dgm:prSet/>
      <dgm:spPr/>
      <dgm:t>
        <a:bodyPr/>
        <a:lstStyle/>
        <a:p>
          <a:endParaRPr lang="en-US"/>
        </a:p>
      </dgm:t>
    </dgm:pt>
    <dgm:pt modelId="{C14CE28B-7324-46DE-876D-CD41F8091773}" type="sibTrans" cxnId="{1DED3BB5-1069-4959-B673-55493EB1A111}">
      <dgm:prSet/>
      <dgm:spPr/>
      <dgm:t>
        <a:bodyPr/>
        <a:lstStyle/>
        <a:p>
          <a:endParaRPr lang="en-US"/>
        </a:p>
      </dgm:t>
    </dgm:pt>
    <dgm:pt modelId="{F9853F61-4314-4DB6-8E78-F99F486FB412}">
      <dgm:prSet/>
      <dgm:spPr/>
      <dgm:t>
        <a:bodyPr/>
        <a:lstStyle/>
        <a:p>
          <a:r>
            <a:rPr lang="en-US" b="1"/>
            <a:t>User Interaction</a:t>
          </a:r>
          <a:r>
            <a:rPr lang="en-US"/>
            <a:t>: Successful clicks on the "Explore Collection" and "WhatsApp" buttons.</a:t>
          </a:r>
        </a:p>
      </dgm:t>
    </dgm:pt>
    <dgm:pt modelId="{A4958017-9BA6-49BA-8E84-59396AAEE276}" type="parTrans" cxnId="{DB05E547-6BD8-42BC-A108-CD7CEDBCD9EE}">
      <dgm:prSet/>
      <dgm:spPr/>
      <dgm:t>
        <a:bodyPr/>
        <a:lstStyle/>
        <a:p>
          <a:endParaRPr lang="en-US"/>
        </a:p>
      </dgm:t>
    </dgm:pt>
    <dgm:pt modelId="{DB90C2DE-AC75-4CC2-9A68-2ABF93EF03A1}" type="sibTrans" cxnId="{DB05E547-6BD8-42BC-A108-CD7CEDBCD9EE}">
      <dgm:prSet/>
      <dgm:spPr/>
      <dgm:t>
        <a:bodyPr/>
        <a:lstStyle/>
        <a:p>
          <a:endParaRPr lang="en-US"/>
        </a:p>
      </dgm:t>
    </dgm:pt>
    <dgm:pt modelId="{19088AD0-6A7B-4406-9AD4-A64443F16D81}">
      <dgm:prSet/>
      <dgm:spPr/>
      <dgm:t>
        <a:bodyPr/>
        <a:lstStyle/>
        <a:p>
          <a:r>
            <a:rPr lang="en-US" b="1"/>
            <a:t>Performance</a:t>
          </a:r>
          <a:r>
            <a:rPr lang="en-US"/>
            <a:t>: Loading speeds for high-quality imagery like the "Spring Collection 2024" banner.</a:t>
          </a:r>
        </a:p>
      </dgm:t>
    </dgm:pt>
    <dgm:pt modelId="{F4A7CAE3-E0BA-4144-900D-5460DD155965}" type="parTrans" cxnId="{2ACE4D4C-53A4-4AC9-8648-6DBD42BDF39A}">
      <dgm:prSet/>
      <dgm:spPr/>
      <dgm:t>
        <a:bodyPr/>
        <a:lstStyle/>
        <a:p>
          <a:endParaRPr lang="en-US"/>
        </a:p>
      </dgm:t>
    </dgm:pt>
    <dgm:pt modelId="{D140C840-3666-40DD-A6C7-69344CA71931}" type="sibTrans" cxnId="{2ACE4D4C-53A4-4AC9-8648-6DBD42BDF39A}">
      <dgm:prSet/>
      <dgm:spPr/>
      <dgm:t>
        <a:bodyPr/>
        <a:lstStyle/>
        <a:p>
          <a:endParaRPr lang="en-US"/>
        </a:p>
      </dgm:t>
    </dgm:pt>
    <dgm:pt modelId="{D6C6A639-8A41-431C-82DC-1EB2D60293D6}">
      <dgm:prSet/>
      <dgm:spPr/>
      <dgm:t>
        <a:bodyPr/>
        <a:lstStyle/>
        <a:p>
          <a:r>
            <a:rPr lang="en-US" b="1"/>
            <a:t>Conversion</a:t>
          </a:r>
          <a:r>
            <a:rPr lang="en-US"/>
            <a:t>: Tracking inquiries generated through the digital storefront.</a:t>
          </a:r>
        </a:p>
      </dgm:t>
    </dgm:pt>
    <dgm:pt modelId="{1EC957C9-80DD-4C6F-9EAC-66B04C861327}" type="parTrans" cxnId="{5E041750-E54A-4755-9546-3047E213B7C5}">
      <dgm:prSet/>
      <dgm:spPr/>
      <dgm:t>
        <a:bodyPr/>
        <a:lstStyle/>
        <a:p>
          <a:endParaRPr lang="en-US"/>
        </a:p>
      </dgm:t>
    </dgm:pt>
    <dgm:pt modelId="{F71E22AC-58E5-4A0D-8BB7-6E296FE0BAA7}" type="sibTrans" cxnId="{5E041750-E54A-4755-9546-3047E213B7C5}">
      <dgm:prSet/>
      <dgm:spPr/>
      <dgm:t>
        <a:bodyPr/>
        <a:lstStyle/>
        <a:p>
          <a:endParaRPr lang="en-US"/>
        </a:p>
      </dgm:t>
    </dgm:pt>
    <dgm:pt modelId="{7962BB5D-F2F9-4D3B-9856-2F0826300481}" type="pres">
      <dgm:prSet presAssocID="{1C518B80-A0DA-4630-898B-B6A7BB6E1A17}" presName="linear" presStyleCnt="0">
        <dgm:presLayoutVars>
          <dgm:animLvl val="lvl"/>
          <dgm:resizeHandles val="exact"/>
        </dgm:presLayoutVars>
      </dgm:prSet>
      <dgm:spPr/>
    </dgm:pt>
    <dgm:pt modelId="{6BD1BCD1-6FBD-4FA4-BC7C-6226169B078E}" type="pres">
      <dgm:prSet presAssocID="{4E32295F-8979-43BC-9B34-4740C087D42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DEE0E87-FF81-4B44-B42D-66BD208E802B}" type="pres">
      <dgm:prSet presAssocID="{C14CE28B-7324-46DE-876D-CD41F8091773}" presName="spacer" presStyleCnt="0"/>
      <dgm:spPr/>
    </dgm:pt>
    <dgm:pt modelId="{CC01F890-331C-4EC3-A7DE-93C824693354}" type="pres">
      <dgm:prSet presAssocID="{F9853F61-4314-4DB6-8E78-F99F486FB41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60E637D-D07D-4640-954B-B41B08C415AE}" type="pres">
      <dgm:prSet presAssocID="{DB90C2DE-AC75-4CC2-9A68-2ABF93EF03A1}" presName="spacer" presStyleCnt="0"/>
      <dgm:spPr/>
    </dgm:pt>
    <dgm:pt modelId="{19F866D6-F311-4355-ACBD-8A0053BA1C0A}" type="pres">
      <dgm:prSet presAssocID="{19088AD0-6A7B-4406-9AD4-A64443F16D8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3A34FFC-BB38-40FA-AC9B-7CC11A2668A3}" type="pres">
      <dgm:prSet presAssocID="{D140C840-3666-40DD-A6C7-69344CA71931}" presName="spacer" presStyleCnt="0"/>
      <dgm:spPr/>
    </dgm:pt>
    <dgm:pt modelId="{436E5A0B-EA12-4AFF-A6DA-3BABE8C60074}" type="pres">
      <dgm:prSet presAssocID="{D6C6A639-8A41-431C-82DC-1EB2D60293D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A57E761-3E14-4A40-8728-9B4E0E36D07D}" type="presOf" srcId="{F9853F61-4314-4DB6-8E78-F99F486FB412}" destId="{CC01F890-331C-4EC3-A7DE-93C824693354}" srcOrd="0" destOrd="0" presId="urn:microsoft.com/office/officeart/2005/8/layout/vList2"/>
    <dgm:cxn modelId="{DB05E547-6BD8-42BC-A108-CD7CEDBCD9EE}" srcId="{1C518B80-A0DA-4630-898B-B6A7BB6E1A17}" destId="{F9853F61-4314-4DB6-8E78-F99F486FB412}" srcOrd="1" destOrd="0" parTransId="{A4958017-9BA6-49BA-8E84-59396AAEE276}" sibTransId="{DB90C2DE-AC75-4CC2-9A68-2ABF93EF03A1}"/>
    <dgm:cxn modelId="{2ACE4D4C-53A4-4AC9-8648-6DBD42BDF39A}" srcId="{1C518B80-A0DA-4630-898B-B6A7BB6E1A17}" destId="{19088AD0-6A7B-4406-9AD4-A64443F16D81}" srcOrd="2" destOrd="0" parTransId="{F4A7CAE3-E0BA-4144-900D-5460DD155965}" sibTransId="{D140C840-3666-40DD-A6C7-69344CA71931}"/>
    <dgm:cxn modelId="{5E041750-E54A-4755-9546-3047E213B7C5}" srcId="{1C518B80-A0DA-4630-898B-B6A7BB6E1A17}" destId="{D6C6A639-8A41-431C-82DC-1EB2D60293D6}" srcOrd="3" destOrd="0" parTransId="{1EC957C9-80DD-4C6F-9EAC-66B04C861327}" sibTransId="{F71E22AC-58E5-4A0D-8BB7-6E296FE0BAA7}"/>
    <dgm:cxn modelId="{7813F9A6-8445-4F68-A575-8E2AABD313C0}" type="presOf" srcId="{19088AD0-6A7B-4406-9AD4-A64443F16D81}" destId="{19F866D6-F311-4355-ACBD-8A0053BA1C0A}" srcOrd="0" destOrd="0" presId="urn:microsoft.com/office/officeart/2005/8/layout/vList2"/>
    <dgm:cxn modelId="{1DED3BB5-1069-4959-B673-55493EB1A111}" srcId="{1C518B80-A0DA-4630-898B-B6A7BB6E1A17}" destId="{4E32295F-8979-43BC-9B34-4740C087D429}" srcOrd="0" destOrd="0" parTransId="{16F85649-7FCA-448D-811D-1A22D440A7BA}" sibTransId="{C14CE28B-7324-46DE-876D-CD41F8091773}"/>
    <dgm:cxn modelId="{48D787B7-84A2-49F9-AE84-D7AE22DD7A2D}" type="presOf" srcId="{D6C6A639-8A41-431C-82DC-1EB2D60293D6}" destId="{436E5A0B-EA12-4AFF-A6DA-3BABE8C60074}" srcOrd="0" destOrd="0" presId="urn:microsoft.com/office/officeart/2005/8/layout/vList2"/>
    <dgm:cxn modelId="{6B62E8EB-1903-496E-82C0-826F61EC236B}" type="presOf" srcId="{1C518B80-A0DA-4630-898B-B6A7BB6E1A17}" destId="{7962BB5D-F2F9-4D3B-9856-2F0826300481}" srcOrd="0" destOrd="0" presId="urn:microsoft.com/office/officeart/2005/8/layout/vList2"/>
    <dgm:cxn modelId="{E34F53F2-3503-402D-996C-2D9EB8A56BD8}" type="presOf" srcId="{4E32295F-8979-43BC-9B34-4740C087D429}" destId="{6BD1BCD1-6FBD-4FA4-BC7C-6226169B078E}" srcOrd="0" destOrd="0" presId="urn:microsoft.com/office/officeart/2005/8/layout/vList2"/>
    <dgm:cxn modelId="{26A500A7-EF88-4F2D-9457-2C0CD752899C}" type="presParOf" srcId="{7962BB5D-F2F9-4D3B-9856-2F0826300481}" destId="{6BD1BCD1-6FBD-4FA4-BC7C-6226169B078E}" srcOrd="0" destOrd="0" presId="urn:microsoft.com/office/officeart/2005/8/layout/vList2"/>
    <dgm:cxn modelId="{F0551731-C591-4D32-836B-3CC8AAD28163}" type="presParOf" srcId="{7962BB5D-F2F9-4D3B-9856-2F0826300481}" destId="{3DEE0E87-FF81-4B44-B42D-66BD208E802B}" srcOrd="1" destOrd="0" presId="urn:microsoft.com/office/officeart/2005/8/layout/vList2"/>
    <dgm:cxn modelId="{96275E38-1D48-42C2-803C-16DFB56D29B7}" type="presParOf" srcId="{7962BB5D-F2F9-4D3B-9856-2F0826300481}" destId="{CC01F890-331C-4EC3-A7DE-93C824693354}" srcOrd="2" destOrd="0" presId="urn:microsoft.com/office/officeart/2005/8/layout/vList2"/>
    <dgm:cxn modelId="{45D65F14-B970-477A-9B55-E86BAE5450A5}" type="presParOf" srcId="{7962BB5D-F2F9-4D3B-9856-2F0826300481}" destId="{D60E637D-D07D-4640-954B-B41B08C415AE}" srcOrd="3" destOrd="0" presId="urn:microsoft.com/office/officeart/2005/8/layout/vList2"/>
    <dgm:cxn modelId="{084E04CB-769A-4BCF-9A97-A29C34616235}" type="presParOf" srcId="{7962BB5D-F2F9-4D3B-9856-2F0826300481}" destId="{19F866D6-F311-4355-ACBD-8A0053BA1C0A}" srcOrd="4" destOrd="0" presId="urn:microsoft.com/office/officeart/2005/8/layout/vList2"/>
    <dgm:cxn modelId="{62898997-87C4-42E8-87FE-F9E960F4C01B}" type="presParOf" srcId="{7962BB5D-F2F9-4D3B-9856-2F0826300481}" destId="{F3A34FFC-BB38-40FA-AC9B-7CC11A2668A3}" srcOrd="5" destOrd="0" presId="urn:microsoft.com/office/officeart/2005/8/layout/vList2"/>
    <dgm:cxn modelId="{1AC52BAA-012E-43BB-9275-9D1902C34934}" type="presParOf" srcId="{7962BB5D-F2F9-4D3B-9856-2F0826300481}" destId="{436E5A0B-EA12-4AFF-A6DA-3BABE8C6007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D1BCD1-6FBD-4FA4-BC7C-6226169B078E}">
      <dsp:nvSpPr>
        <dsp:cNvPr id="0" name=""/>
        <dsp:cNvSpPr/>
      </dsp:nvSpPr>
      <dsp:spPr>
        <a:xfrm>
          <a:off x="0" y="98059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Progress will be evaluated by the visual accuracy of the web interface compared to the brand's aesthetic standards. Key indicators include:</a:t>
          </a:r>
        </a:p>
      </dsp:txBody>
      <dsp:txXfrm>
        <a:off x="61741" y="159800"/>
        <a:ext cx="6543351" cy="1141288"/>
      </dsp:txXfrm>
    </dsp:sp>
    <dsp:sp modelId="{CC01F890-331C-4EC3-A7DE-93C824693354}">
      <dsp:nvSpPr>
        <dsp:cNvPr id="0" name=""/>
        <dsp:cNvSpPr/>
      </dsp:nvSpPr>
      <dsp:spPr>
        <a:xfrm>
          <a:off x="0" y="1429069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User Interaction</a:t>
          </a:r>
          <a:r>
            <a:rPr lang="en-US" sz="2300" kern="1200"/>
            <a:t>: Successful clicks on the "Explore Collection" and "WhatsApp" buttons.</a:t>
          </a:r>
        </a:p>
      </dsp:txBody>
      <dsp:txXfrm>
        <a:off x="61741" y="1490810"/>
        <a:ext cx="6543351" cy="1141288"/>
      </dsp:txXfrm>
    </dsp:sp>
    <dsp:sp modelId="{19F866D6-F311-4355-ACBD-8A0053BA1C0A}">
      <dsp:nvSpPr>
        <dsp:cNvPr id="0" name=""/>
        <dsp:cNvSpPr/>
      </dsp:nvSpPr>
      <dsp:spPr>
        <a:xfrm>
          <a:off x="0" y="2760080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Performance</a:t>
          </a:r>
          <a:r>
            <a:rPr lang="en-US" sz="2300" kern="1200"/>
            <a:t>: Loading speeds for high-quality imagery like the "Spring Collection 2024" banner.</a:t>
          </a:r>
        </a:p>
      </dsp:txBody>
      <dsp:txXfrm>
        <a:off x="61741" y="2821821"/>
        <a:ext cx="6543351" cy="1141288"/>
      </dsp:txXfrm>
    </dsp:sp>
    <dsp:sp modelId="{436E5A0B-EA12-4AFF-A6DA-3BABE8C60074}">
      <dsp:nvSpPr>
        <dsp:cNvPr id="0" name=""/>
        <dsp:cNvSpPr/>
      </dsp:nvSpPr>
      <dsp:spPr>
        <a:xfrm>
          <a:off x="0" y="4091090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Conversion</a:t>
          </a:r>
          <a:r>
            <a:rPr lang="en-US" sz="2300" kern="1200"/>
            <a:t>: Tracking inquiries generated through the digital storefront.</a:t>
          </a:r>
        </a:p>
      </dsp:txBody>
      <dsp:txXfrm>
        <a:off x="61741" y="4152831"/>
        <a:ext cx="6543351" cy="11412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DD1E6-9EB9-4C4D-246C-E065BED02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55B73E-2E20-F8D5-5420-09179823A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E2D45-A9BB-C144-0503-49EB2F9F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E2C67-E659-4334-838F-FF2F1D13E9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FBEDC-E5EC-BCE1-33B3-5CDB2B78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60711-CE49-C2BA-8E73-91EED2A72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87CB-E85A-4C27-B3F6-647D99AA5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718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7A4BD-C51C-0C41-92FE-1CAF420D4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A2469-5974-E082-1D05-3CD2B6D3E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814B2-BA88-7812-5B42-D2E7C84B0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E2C67-E659-4334-838F-FF2F1D13E9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74980-9117-8A81-7499-018E12BD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D0CC5-20D0-A309-F092-C16F2C4D6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87CB-E85A-4C27-B3F6-647D99AA5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E3160-BC29-77C9-7E19-1FED6A3C0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59620-BEF5-D27B-9294-46D4916AC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09227-C65E-AC10-CB1E-B90CDB282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E2C67-E659-4334-838F-FF2F1D13E9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F8C00-E788-D176-E447-A8758AD4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AEFC4-6631-6015-E2DF-964C7AA85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87CB-E85A-4C27-B3F6-647D99AA5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26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03782-B77E-4310-B23C-3CEAD49DE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B0087-1B1B-17FC-E513-BC507294D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C34D0-18C4-9D24-89E1-7EA1B1DBD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4E448-A535-126B-C4B7-6D370B9FD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E2C67-E659-4334-838F-FF2F1D13E9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C41AD-FB99-6D33-CA93-CA0F8BD82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AB9A4-D101-6236-5A3F-AB635FF2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87CB-E85A-4C27-B3F6-647D99AA5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93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DC7B-13BD-789B-F2BC-3FE0A5B38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7D9DD-F7D1-C949-2314-F2C68B541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9AB5F-83DF-B0C4-70B2-6FB2C957F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1777F9-A8DF-70A7-1ED3-76003DDD9E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3CC757-A5A6-39B3-0C4E-737BA7E94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780FF4-FF64-7B85-4AE7-FDAE5494D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E2C67-E659-4334-838F-FF2F1D13E9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0E1F6C-5AE2-0EF8-E77C-15C05DE5F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200E9-F6E1-8DD7-4A19-BF46F122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87CB-E85A-4C27-B3F6-647D99AA5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81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67DDA-024B-5DCF-6AE0-7D771BB90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8EE15-C06E-A405-3A23-A07427AA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E2C67-E659-4334-838F-FF2F1D13E9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C56EE-742E-2A0F-99A0-1ED319673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C0AD0-3269-8B0C-DF49-5B367B2E0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87CB-E85A-4C27-B3F6-647D99AA5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797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5F0BBC-3A22-C0A9-0B9F-2F2F60595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E2C67-E659-4334-838F-FF2F1D13E9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EF45E5-5310-3395-E25E-BEB7C2E15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731DC-61E4-E114-AF13-FA41F21D7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87CB-E85A-4C27-B3F6-647D99AA5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43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F8A41-94E3-DD08-1EC5-D466BE563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3AF1A-1DEA-7E5D-E510-98B82AF39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5B6A8A-C7D5-047F-6DD6-2DB3ABDCE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9249A-013A-50C8-8C1A-F3A7D1AC8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E2C67-E659-4334-838F-FF2F1D13E9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FE65F-B11B-1531-14B3-4902FD075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A011D-2D82-C592-0DE9-23186A5B6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87CB-E85A-4C27-B3F6-647D99AA5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40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D9FA9-C14E-6561-2AF2-D00DDF639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E1908-C1A5-BC21-37E1-87728CCA7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88C3DD-F56A-1A0E-FF46-A167D0CEA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475E4-DCDD-D8F9-76DC-D219B459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E2C67-E659-4334-838F-FF2F1D13E9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4DFCC-0B45-1AF7-9F70-6E5A4664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F53F9-65E9-7836-0F47-C9F6F127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87CB-E85A-4C27-B3F6-647D99AA5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27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CA139-B367-8EAA-6CFE-B876D5288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08FCB-ACCF-629F-783B-48D243086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1B5EB-71D6-35F5-44DA-1B035863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E2C67-E659-4334-838F-FF2F1D13E9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E26F8-5D2B-F9A6-A829-56C255FA9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C7B3F-8E37-F602-EF48-16CE35E1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87CB-E85A-4C27-B3F6-647D99AA5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65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736745-29FB-0ECF-6258-C76456AFA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977DBC-3DC8-D5A8-E0C4-D37508DD3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703AA-3095-DD1A-1F8F-DF490CE77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E2C67-E659-4334-838F-FF2F1D13E9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F08B2-D785-134B-0D7E-4A58E5BF9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E2E88-8411-3251-0C0A-41F0CA5BF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87CB-E85A-4C27-B3F6-647D99AA5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35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AD9731-79E9-6DC6-6B5F-A1214B04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52C06-A2DB-7C21-01A9-F371BC5C1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937D0-63D1-8D25-15F8-D1E1C0B5E7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2E2C67-E659-4334-838F-FF2F1D13E9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30051-6446-8DF1-61C1-62F0D31FE8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CB050-B33F-643F-B818-62DA72D539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BF87CB-E85A-4C27-B3F6-647D99AA5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9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5D389-6A10-7FDA-BC79-33EF1B639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          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              </a:t>
            </a:r>
            <a:r>
              <a:rPr kumimoji="0" lang="en-US" altLang="en-US" sz="3000" b="1" i="0" u="sng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PERFECT OUTLOOK </a:t>
            </a: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9A20EB-09D1-05B7-5120-8136E39DF3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Where Fashion Meets Perfection</a:t>
            </a:r>
          </a:p>
          <a:p>
            <a:pPr algn="l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43" name="Oval 1042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1C3558-BC7E-7669-2F2E-807868412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20559" y="2223205"/>
            <a:ext cx="3737164" cy="2425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E6B0537B-E5C1-DA4B-D5A6-F48200660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3" y="31750"/>
            <a:ext cx="152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FCC8A9B-5CC3-050D-D531-83F6D08F3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31750"/>
            <a:ext cx="106680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0713619"/>
      </p:ext>
    </p:extLst>
  </p:cSld>
  <p:clrMapOvr>
    <a:masterClrMapping/>
  </p:clrMapOvr>
  <p:transition spd="slow">
    <p:diamond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A73DC3-7D4F-D87B-C2C7-34C238D26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Background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09F34-B76C-A25C-9BB1-6B417938E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 The fashion industry increasingly requires a digital presence that reflects the quality and precision of bespoke craftsmanship. This project is undertaken to create a professional e-commerce platform for </a:t>
            </a:r>
            <a:r>
              <a:rPr lang="en-US" sz="2000" b="1"/>
              <a:t>PERFECT OUTLOOK</a:t>
            </a:r>
            <a:r>
              <a:rPr lang="en-US" sz="2000"/>
              <a:t> that bridges the gap between high-end, individualized tailoring and online accessibility. It addresses the need for a cohesive brand identity where customers can explore perfect collections—such as "Executive wear" and "Spring Collection "—while maintaining direct communication via integrated tools like WhatsApp.</a:t>
            </a:r>
          </a:p>
          <a:p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669974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F499C-857C-0A4E-4A42-1958D7BD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Objectives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05CC9-830A-8DE6-EFBD-87EE94B2D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b="1"/>
              <a:t>. Establish a Digital Showroom</a:t>
            </a:r>
            <a:r>
              <a:rPr lang="en-US" sz="2000"/>
              <a:t>: Launch a high-fidelity website that showcases "Curated Collections" with high-resolution imagery to reflect a "Perfection in Fashion" brand ethos.</a:t>
            </a:r>
          </a:p>
          <a:p>
            <a:r>
              <a:rPr lang="en-US" sz="2000" b="1"/>
              <a:t>. Enhance Customer Engagement</a:t>
            </a:r>
            <a:r>
              <a:rPr lang="en-US" sz="2000"/>
              <a:t>: Integrate a direct "Chat on WhatsApp" feature to facilitate real-time consultation for bespoke designs.</a:t>
            </a:r>
          </a:p>
          <a:p>
            <a:r>
              <a:rPr lang="en-US" sz="2000" b="1"/>
              <a:t>. Streamlined Navigation</a:t>
            </a:r>
            <a:r>
              <a:rPr lang="en-US" sz="2000"/>
              <a:t>: Categorize products effectively into distinct sections such as Dresses, Suits, and Accessories to improve the user journey and conversion rates.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59929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D692FE-8F54-580D-2A74-2B1822C0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Scope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BFEA1-C8DD-EB56-D362-F9F04141E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The end result of this project will be a fully functional, responsive e-commerce website. The work will encompass the design of a "Hero Section" featuring the brand story, a "Curated Collections" gallery with filtering capabilities, and a </a:t>
            </a:r>
          </a:p>
          <a:p>
            <a:r>
              <a:rPr lang="en-US" sz="2000"/>
              <a:t>"Designer's Story" section to build brand trust and authenticity.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94569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521F88-DEB4-ADBD-5F2E-C690041FA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Time frame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9B1B843-B175-0EC1-AF68-CA5B449A0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781735" y="0"/>
            <a:ext cx="2375547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DCEF7B0-1DAA-DF31-CDC5-AE6C631760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1950316"/>
              </p:ext>
            </p:extLst>
          </p:nvPr>
        </p:nvGraphicFramePr>
        <p:xfrm>
          <a:off x="4502428" y="1053325"/>
          <a:ext cx="7225749" cy="4751352"/>
        </p:xfrm>
        <a:graphic>
          <a:graphicData uri="http://schemas.openxmlformats.org/drawingml/2006/table">
            <a:tbl>
              <a:tblPr/>
              <a:tblGrid>
                <a:gridCol w="4351705">
                  <a:extLst>
                    <a:ext uri="{9D8B030D-6E8A-4147-A177-3AD203B41FA5}">
                      <a16:colId xmlns:a16="http://schemas.microsoft.com/office/drawing/2014/main" val="1819086923"/>
                    </a:ext>
                  </a:extLst>
                </a:gridCol>
                <a:gridCol w="2874044">
                  <a:extLst>
                    <a:ext uri="{9D8B030D-6E8A-4147-A177-3AD203B41FA5}">
                      <a16:colId xmlns:a16="http://schemas.microsoft.com/office/drawing/2014/main" val="3636794555"/>
                    </a:ext>
                  </a:extLst>
                </a:gridCol>
              </a:tblGrid>
              <a:tr h="73317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 of Work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3660" marR="123660" marT="164880" marB="1648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Start and End Dates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3660" marR="123660" marT="164880" marB="1648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766040"/>
                  </a:ext>
                </a:extLst>
              </a:tr>
              <a:tr h="14606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Phase One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UI/UX Design &amp; Branding (Hero &amp; Collections Layout)</a:t>
                      </a:r>
                    </a:p>
                  </a:txBody>
                  <a:tcPr marL="123660" marR="123660" marT="164880" marB="1648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 Be Determined </a:t>
                      </a:r>
                    </a:p>
                  </a:txBody>
                  <a:tcPr marL="123660" marR="123660" marT="164880" marB="1648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772327"/>
                  </a:ext>
                </a:extLst>
              </a:tr>
              <a:tr h="14606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Phase Two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Development of Product Filtering (Suits, Dresses, Accessories)</a:t>
                      </a:r>
                    </a:p>
                  </a:txBody>
                  <a:tcPr marL="123660" marR="123660" marT="164880" marB="1648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 Be Determined </a:t>
                      </a:r>
                    </a:p>
                  </a:txBody>
                  <a:tcPr marL="123660" marR="123660" marT="164880" marB="1648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61126"/>
                  </a:ext>
                </a:extLst>
              </a:tr>
              <a:tr h="109690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Phase Three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Integration of WhatsApp Chat &amp; Final Launch</a:t>
                      </a:r>
                    </a:p>
                  </a:txBody>
                  <a:tcPr marL="123660" marR="123660" marT="164880" marB="1648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 Be Determined </a:t>
                      </a:r>
                    </a:p>
                  </a:txBody>
                  <a:tcPr marL="123660" marR="123660" marT="164880" marB="1648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719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2786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A90716-117F-54D6-3AB0-4864A6030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Budget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3A084F-8537-7E8A-7E16-C34113EE8E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4215667"/>
              </p:ext>
            </p:extLst>
          </p:nvPr>
        </p:nvGraphicFramePr>
        <p:xfrm>
          <a:off x="4502428" y="640562"/>
          <a:ext cx="7225748" cy="585907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049744">
                  <a:extLst>
                    <a:ext uri="{9D8B030D-6E8A-4147-A177-3AD203B41FA5}">
                      <a16:colId xmlns:a16="http://schemas.microsoft.com/office/drawing/2014/main" val="2365818593"/>
                    </a:ext>
                  </a:extLst>
                </a:gridCol>
                <a:gridCol w="2176004">
                  <a:extLst>
                    <a:ext uri="{9D8B030D-6E8A-4147-A177-3AD203B41FA5}">
                      <a16:colId xmlns:a16="http://schemas.microsoft.com/office/drawing/2014/main" val="2132629038"/>
                    </a:ext>
                  </a:extLst>
                </a:gridCol>
              </a:tblGrid>
              <a:tr h="11153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2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Description of Work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22337" marR="253401" marT="142084" marB="2534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2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Anticipated Costs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22337" marR="253401" marT="142084" marB="2534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932767"/>
                  </a:ext>
                </a:extLst>
              </a:tr>
              <a:tr h="11153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2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Phase One</a:t>
                      </a:r>
                      <a:r>
                        <a:rPr lang="en-US" sz="2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: Creative direction for "Perfection. Fashion" visual assets</a:t>
                      </a:r>
                    </a:p>
                  </a:txBody>
                  <a:tcPr marL="422337" marR="253401" marT="142084" marB="2534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To Be Determined </a:t>
                      </a:r>
                    </a:p>
                  </a:txBody>
                  <a:tcPr marL="422337" marR="253401" marT="142084" marB="2534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518190"/>
                  </a:ext>
                </a:extLst>
              </a:tr>
              <a:tr h="14469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2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Phase Two</a:t>
                      </a:r>
                      <a:r>
                        <a:rPr lang="en-US" sz="2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: Web development and product cataloging e.g.(Men's Kaftan, Executive Wear)</a:t>
                      </a:r>
                    </a:p>
                  </a:txBody>
                  <a:tcPr marL="422337" marR="253401" marT="142084" marB="2534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To Be Determined </a:t>
                      </a:r>
                    </a:p>
                  </a:txBody>
                  <a:tcPr marL="422337" marR="253401" marT="142084" marB="2534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149632"/>
                  </a:ext>
                </a:extLst>
              </a:tr>
              <a:tr h="11153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2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Phase Three</a:t>
                      </a:r>
                      <a:r>
                        <a:rPr lang="en-US" sz="2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: Maintenance and social media API integration</a:t>
                      </a:r>
                    </a:p>
                  </a:txBody>
                  <a:tcPr marL="422337" marR="253401" marT="142084" marB="2534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To Be Determined </a:t>
                      </a:r>
                    </a:p>
                  </a:txBody>
                  <a:tcPr marL="422337" marR="253401" marT="142084" marB="2534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912352"/>
                  </a:ext>
                </a:extLst>
              </a:tr>
              <a:tr h="7838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2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Total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22337" marR="253401" marT="142084" marB="2534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2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To Be Determined </a:t>
                      </a:r>
                      <a:endParaRPr lang="en-US" sz="22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22337" marR="253401" marT="142084" marB="2534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516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415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DDF8B-16DE-A738-EABB-2DB9FB802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Monitoring and Evaluation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8C39CDB0-FC53-E2CE-E8D0-C913A97484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33343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5810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417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Google Sans Text</vt:lpstr>
      <vt:lpstr>Office Theme</vt:lpstr>
      <vt:lpstr>                           PERFECT OUTLOOK  </vt:lpstr>
      <vt:lpstr>Background </vt:lpstr>
      <vt:lpstr>Objectives</vt:lpstr>
      <vt:lpstr>Scope </vt:lpstr>
      <vt:lpstr>Time frame </vt:lpstr>
      <vt:lpstr>Project Budget</vt:lpstr>
      <vt:lpstr>Monitoring and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Boateng</dc:creator>
  <cp:lastModifiedBy>Prince Boateng</cp:lastModifiedBy>
  <cp:revision>2</cp:revision>
  <dcterms:created xsi:type="dcterms:W3CDTF">2026-05-12T13:14:13Z</dcterms:created>
  <dcterms:modified xsi:type="dcterms:W3CDTF">2026-05-12T14:33:42Z</dcterms:modified>
</cp:coreProperties>
</file>